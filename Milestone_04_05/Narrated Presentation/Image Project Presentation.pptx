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43" r:id="rId2"/>
    <p:sldId id="650" r:id="rId3"/>
    <p:sldId id="644" r:id="rId4"/>
    <p:sldId id="651" r:id="rId5"/>
    <p:sldId id="645" r:id="rId6"/>
    <p:sldId id="646" r:id="rId7"/>
    <p:sldId id="647" r:id="rId8"/>
    <p:sldId id="648" r:id="rId9"/>
    <p:sldId id="64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9" y="124632"/>
            <a:ext cx="9347200" cy="3135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838200"/>
            <a:ext cx="10083800" cy="4876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E69B6E-DECA-B536-B088-977F673987B8}"/>
              </a:ext>
            </a:extLst>
          </p:cNvPr>
          <p:cNvSpPr/>
          <p:nvPr userDrawn="1"/>
        </p:nvSpPr>
        <p:spPr>
          <a:xfrm>
            <a:off x="0" y="631354"/>
            <a:ext cx="1524000" cy="538844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EFC540-DE9C-A2D9-5B91-FC13A9487F29}"/>
              </a:ext>
            </a:extLst>
          </p:cNvPr>
          <p:cNvSpPr txBox="1"/>
          <p:nvPr userDrawn="1"/>
        </p:nvSpPr>
        <p:spPr>
          <a:xfrm>
            <a:off x="0" y="685800"/>
            <a:ext cx="1524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</a:p>
          <a:p>
            <a:endParaRPr lang="en-US" dirty="0"/>
          </a:p>
          <a:p>
            <a:r>
              <a:rPr lang="en-US" dirty="0"/>
              <a:t>Literature Review</a:t>
            </a:r>
          </a:p>
          <a:p>
            <a:endParaRPr lang="en-US" dirty="0"/>
          </a:p>
          <a:p>
            <a:r>
              <a:rPr lang="en-US" dirty="0"/>
              <a:t>Methodology</a:t>
            </a:r>
          </a:p>
          <a:p>
            <a:endParaRPr lang="en-US" dirty="0"/>
          </a:p>
          <a:p>
            <a:r>
              <a:rPr lang="en-US" dirty="0"/>
              <a:t>Simulation Results</a:t>
            </a:r>
          </a:p>
          <a:p>
            <a:endParaRPr lang="en-US" dirty="0"/>
          </a:p>
          <a:p>
            <a:r>
              <a:rPr lang="en-US" dirty="0"/>
              <a:t>Experimental Results</a:t>
            </a:r>
          </a:p>
          <a:p>
            <a:endParaRPr lang="en-US" dirty="0"/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r>
              <a:rPr lang="en-US" dirty="0"/>
              <a:t>Future Work</a:t>
            </a:r>
          </a:p>
          <a:p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DD02D24-F3B9-E34F-C7FA-45CFB21ABB71}"/>
              </a:ext>
            </a:extLst>
          </p:cNvPr>
          <p:cNvSpPr txBox="1">
            <a:spLocks/>
          </p:cNvSpPr>
          <p:nvPr userDrawn="1"/>
        </p:nvSpPr>
        <p:spPr>
          <a:xfrm>
            <a:off x="2184400" y="5715000"/>
            <a:ext cx="8915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73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81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9" y="213532"/>
            <a:ext cx="9347200" cy="3135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97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9" y="213532"/>
            <a:ext cx="9347200" cy="31350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65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9" y="213532"/>
            <a:ext cx="9347200" cy="3135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38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/>
            </a:lvl1pPr>
          </a:lstStyle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911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829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43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6679" y="213532"/>
            <a:ext cx="9347200" cy="3135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07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6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838200"/>
            <a:ext cx="110744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4488AA48-FE50-4E19-88CA-A0E4CBFE9E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27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98FA-9A48-5EE8-ECAD-31463289C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36524"/>
            <a:ext cx="9347200" cy="313506"/>
          </a:xfrm>
        </p:spPr>
        <p:txBody>
          <a:bodyPr/>
          <a:lstStyle/>
          <a:p>
            <a:r>
              <a:rPr lang="en-GB" i="1" dirty="0"/>
              <a:t>Overview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4DC440-6FCD-7088-A413-1F3A45497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88AA48-FE50-4E19-88CA-A0E4CBFE9E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0C9F20-E197-824F-2190-7BD231DE00EF}"/>
              </a:ext>
            </a:extLst>
          </p:cNvPr>
          <p:cNvSpPr/>
          <p:nvPr/>
        </p:nvSpPr>
        <p:spPr>
          <a:xfrm>
            <a:off x="0" y="914400"/>
            <a:ext cx="2057400" cy="5105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prstClr val="black"/>
                </a:solidFill>
                <a:latin typeface="Calibri"/>
              </a:rPr>
              <a:t>Overview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Practical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61670-8A18-9826-A5EE-078AB2B8B167}"/>
              </a:ext>
            </a:extLst>
          </p:cNvPr>
          <p:cNvSpPr txBox="1"/>
          <p:nvPr/>
        </p:nvSpPr>
        <p:spPr>
          <a:xfrm>
            <a:off x="2492829" y="1045028"/>
            <a:ext cx="8904514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goal is to design an autonomous vehicle that when detecting an obstacle, avoids 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vehicle can switch between two lanes, where on obstacle detection, the vehicle switches to the other lane.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vehicle uses two microcontrollers: an ESP32, Raspberry Pi 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ESP32 takes the sensor readings and sends them to the Pi, while at the same time takes the motor commands from the Pi and sends them to the motors.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Two sensors are used: An Encoder for getting velocity, and an IMU for getting the heading angle and its respective angular velocity.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Two motors are used: A DC motor for longitudinal motion, and a Servo motor for steering.</a:t>
            </a:r>
          </a:p>
        </p:txBody>
      </p:sp>
    </p:spTree>
    <p:extLst>
      <p:ext uri="{BB962C8B-B14F-4D97-AF65-F5344CB8AC3E}">
        <p14:creationId xmlns:p14="http://schemas.microsoft.com/office/powerpoint/2010/main" val="174011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91A10-427F-04FA-D056-628ECE74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8B5E-49AF-7DB1-488E-1D55A100D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36524"/>
            <a:ext cx="9347200" cy="313506"/>
          </a:xfrm>
        </p:spPr>
        <p:txBody>
          <a:bodyPr/>
          <a:lstStyle/>
          <a:p>
            <a:r>
              <a:rPr lang="en-GB" i="1" dirty="0"/>
              <a:t>Overview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51858E-91C5-3BE3-2ABE-ED0AAAA0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88AA48-FE50-4E19-88CA-A0E4CBFE9E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B62ACC-24E4-92E5-82AF-5B41A02AB5D9}"/>
              </a:ext>
            </a:extLst>
          </p:cNvPr>
          <p:cNvSpPr/>
          <p:nvPr/>
        </p:nvSpPr>
        <p:spPr>
          <a:xfrm>
            <a:off x="0" y="914400"/>
            <a:ext cx="2057400" cy="5105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Overview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Practical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EB146-8DCC-ED00-F2A5-89BEC8624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0800" y="2081071"/>
            <a:ext cx="9293544" cy="29299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86C2D7-3E4D-2AD2-E4AF-577101218567}"/>
              </a:ext>
            </a:extLst>
          </p:cNvPr>
          <p:cNvSpPr txBox="1"/>
          <p:nvPr/>
        </p:nvSpPr>
        <p:spPr>
          <a:xfrm>
            <a:off x="2319704" y="880664"/>
            <a:ext cx="94572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 following figure shows an overview of the Raspberry Pi nodes used in our project:</a:t>
            </a:r>
          </a:p>
        </p:txBody>
      </p:sp>
    </p:spTree>
    <p:extLst>
      <p:ext uri="{BB962C8B-B14F-4D97-AF65-F5344CB8AC3E}">
        <p14:creationId xmlns:p14="http://schemas.microsoft.com/office/powerpoint/2010/main" val="311038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0191-85F5-B3BC-604F-4BE12ADF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AA17-6325-ADD7-7F03-001EB382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36524"/>
            <a:ext cx="9347200" cy="313506"/>
          </a:xfrm>
        </p:spPr>
        <p:txBody>
          <a:bodyPr/>
          <a:lstStyle/>
          <a:p>
            <a:r>
              <a:rPr lang="en-GB" i="1" dirty="0"/>
              <a:t>Camera Node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4B0753-A40F-537A-9692-1AD1EDD0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88AA48-FE50-4E19-88CA-A0E4CBFE9E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ABEF6-1E1B-8BA6-4F0E-5623654177E6}"/>
              </a:ext>
            </a:extLst>
          </p:cNvPr>
          <p:cNvSpPr/>
          <p:nvPr/>
        </p:nvSpPr>
        <p:spPr>
          <a:xfrm>
            <a:off x="0" y="914400"/>
            <a:ext cx="2057400" cy="5105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Overview</a:t>
            </a:r>
            <a:endParaRPr kumimoji="0" lang="en-GB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Practical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D63040-1F3F-725C-7D23-DDA769953971}"/>
                  </a:ext>
                </a:extLst>
              </p:cNvPr>
              <p:cNvSpPr txBox="1"/>
              <p:nvPr/>
            </p:nvSpPr>
            <p:spPr>
              <a:xfrm>
                <a:off x="2452849" y="914400"/>
                <a:ext cx="8759437" cy="52941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The node detects the obstacle using Pi Camera Module 2.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The camera detects the QR code that is attached to the obstacle and measures the distance between the camera and the obstacle.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Each captured frame from the camera is first transformed into a grayscale image.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 Next, the image is enhanced using histogram equalization which is done using CLAHE in order to enhance image brightness.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After that, the image is transformed into a black and white image.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Then, the three black squares that form an L shape are searched for in the image as that is what distinguishes the QR code.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Finally, if the QR code is found, the distance (d) is calculated using the following rule: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If the calculated distance is less than a certain value a true flag is published by the node indicating that the vehicle is close to an obstacle.</a:t>
                </a:r>
              </a:p>
              <a:p>
                <a:endParaRPr lang="en-GB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D63040-1F3F-725C-7D23-DDA769953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849" y="914400"/>
                <a:ext cx="8759437" cy="5294142"/>
              </a:xfrm>
              <a:prstGeom prst="rect">
                <a:avLst/>
              </a:prstGeom>
              <a:blipFill>
                <a:blip r:embed="rId2"/>
                <a:stretch>
                  <a:fillRect l="-626" t="-576" r="-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59A4876-F0F5-3666-086E-5528928B555A}"/>
              </a:ext>
            </a:extLst>
          </p:cNvPr>
          <p:cNvSpPr txBox="1"/>
          <p:nvPr/>
        </p:nvSpPr>
        <p:spPr>
          <a:xfrm>
            <a:off x="7957457" y="4267200"/>
            <a:ext cx="29502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W: Real width of the QR code</a:t>
            </a:r>
          </a:p>
          <a:p>
            <a:r>
              <a:rPr lang="en-GB" dirty="0"/>
              <a:t>f: Focal length</a:t>
            </a:r>
          </a:p>
          <a:p>
            <a:r>
              <a:rPr lang="el-GR" dirty="0"/>
              <a:t>ω</a:t>
            </a:r>
            <a:r>
              <a:rPr lang="en-GB" dirty="0"/>
              <a:t>: Pixel Width </a:t>
            </a:r>
          </a:p>
        </p:txBody>
      </p:sp>
    </p:spTree>
    <p:extLst>
      <p:ext uri="{BB962C8B-B14F-4D97-AF65-F5344CB8AC3E}">
        <p14:creationId xmlns:p14="http://schemas.microsoft.com/office/powerpoint/2010/main" val="193509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3F770-771B-E270-27F7-D686A3F6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C25F-E252-865F-9B67-60294654F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36524"/>
            <a:ext cx="9347200" cy="313506"/>
          </a:xfrm>
        </p:spPr>
        <p:txBody>
          <a:bodyPr/>
          <a:lstStyle/>
          <a:p>
            <a:r>
              <a:rPr lang="en-GB" i="1" dirty="0"/>
              <a:t>Camera Node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E9DED-29C5-FF3A-68EB-B9C8C4B0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88AA48-FE50-4E19-88CA-A0E4CBFE9E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B09E86-2CB6-D9BC-DA18-CEDD8176B7D9}"/>
              </a:ext>
            </a:extLst>
          </p:cNvPr>
          <p:cNvSpPr/>
          <p:nvPr/>
        </p:nvSpPr>
        <p:spPr>
          <a:xfrm>
            <a:off x="0" y="914400"/>
            <a:ext cx="2057400" cy="5105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Overview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Practical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E15792-B631-BC74-07F6-459D8928E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696" y="1093712"/>
            <a:ext cx="4138941" cy="31299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BD5F80-E201-236E-4E43-FF49C65641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002" y="1093712"/>
            <a:ext cx="4218010" cy="319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0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0CE98-2F87-5A23-491D-D94262BFF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67F9-EF23-61B9-C457-C2E4A3D93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36524"/>
            <a:ext cx="9347200" cy="313506"/>
          </a:xfrm>
        </p:spPr>
        <p:txBody>
          <a:bodyPr/>
          <a:lstStyle/>
          <a:p>
            <a:r>
              <a:rPr lang="en-GB" i="1" dirty="0"/>
              <a:t>Obstacle Avoidance Node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F87D2E-1497-E929-9902-007C1FE3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88AA48-FE50-4E19-88CA-A0E4CBFE9E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E9D39-F504-90EC-B1CA-2598D4A2FF58}"/>
              </a:ext>
            </a:extLst>
          </p:cNvPr>
          <p:cNvSpPr/>
          <p:nvPr/>
        </p:nvSpPr>
        <p:spPr>
          <a:xfrm>
            <a:off x="0" y="914400"/>
            <a:ext cx="2057400" cy="5105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Overview</a:t>
            </a:r>
            <a:endParaRPr kumimoji="0" lang="en-GB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Practical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E3B36-5FB9-67B9-3ADF-4FF719D79B58}"/>
              </a:ext>
            </a:extLst>
          </p:cNvPr>
          <p:cNvSpPr txBox="1"/>
          <p:nvPr/>
        </p:nvSpPr>
        <p:spPr>
          <a:xfrm>
            <a:off x="2819399" y="914400"/>
            <a:ext cx="8371115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node takes the published flag by the camera node.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A majority filter is used to prevent camera noise affecting the vehicle.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On obstacle detection, the reference Y value is changed representing our lane switching.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node also controls the speed of the vehicle, where the vehicle normally moves at a constant speed.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On obstacle detection, the vehicle moves with a lower speed until it moves past the obstacle. </a:t>
            </a:r>
          </a:p>
        </p:txBody>
      </p:sp>
    </p:spTree>
    <p:extLst>
      <p:ext uri="{BB962C8B-B14F-4D97-AF65-F5344CB8AC3E}">
        <p14:creationId xmlns:p14="http://schemas.microsoft.com/office/powerpoint/2010/main" val="2306456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048D-F48E-C936-1DBA-0797F30CD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08A3-4B54-099D-CB41-192693BB4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36524"/>
            <a:ext cx="9347200" cy="313506"/>
          </a:xfrm>
        </p:spPr>
        <p:txBody>
          <a:bodyPr/>
          <a:lstStyle/>
          <a:p>
            <a:r>
              <a:rPr lang="en-GB" i="1" dirty="0"/>
              <a:t>Localization Node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3ADC3F-3DC7-7951-9834-77C437B41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88AA48-FE50-4E19-88CA-A0E4CBFE9E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E01668-FE64-8372-0350-916BEE60343D}"/>
              </a:ext>
            </a:extLst>
          </p:cNvPr>
          <p:cNvSpPr/>
          <p:nvPr/>
        </p:nvSpPr>
        <p:spPr>
          <a:xfrm>
            <a:off x="0" y="914400"/>
            <a:ext cx="2057400" cy="5105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Overview</a:t>
            </a:r>
            <a:endParaRPr kumimoji="0" lang="en-GB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Practical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2845F-1709-8A79-9548-0E2E855D633A}"/>
              </a:ext>
            </a:extLst>
          </p:cNvPr>
          <p:cNvSpPr txBox="1"/>
          <p:nvPr/>
        </p:nvSpPr>
        <p:spPr>
          <a:xfrm>
            <a:off x="2590800" y="1774371"/>
            <a:ext cx="8512630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 node is responsible for making the vehicle know its current state values [X, Y, </a:t>
            </a:r>
            <a:r>
              <a:rPr lang="el-GR" sz="2000" dirty="0"/>
              <a:t>ϴ</a:t>
            </a:r>
            <a:r>
              <a:rPr lang="en-GB" sz="2000" dirty="0"/>
              <a:t>, V].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This is done by using the sensor readings of the encoder and the IMU.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An Extended Kalman Filter is used, so that the vehicle knows its current states accurately.  </a:t>
            </a:r>
          </a:p>
        </p:txBody>
      </p:sp>
    </p:spTree>
    <p:extLst>
      <p:ext uri="{BB962C8B-B14F-4D97-AF65-F5344CB8AC3E}">
        <p14:creationId xmlns:p14="http://schemas.microsoft.com/office/powerpoint/2010/main" val="93872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763A8-708A-FC86-78E4-1E1DCD548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E4F0-F0BA-2DE4-B5CA-D06593419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36524"/>
            <a:ext cx="9347200" cy="313506"/>
          </a:xfrm>
        </p:spPr>
        <p:txBody>
          <a:bodyPr/>
          <a:lstStyle/>
          <a:p>
            <a:r>
              <a:rPr lang="en-GB" i="1" dirty="0"/>
              <a:t>Stanley Node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8DF034-FB8B-76DD-FF65-317E34CA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88AA48-FE50-4E19-88CA-A0E4CBFE9E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0B1C17-A903-1D9B-E31C-CA4A3AF6AB55}"/>
              </a:ext>
            </a:extLst>
          </p:cNvPr>
          <p:cNvSpPr/>
          <p:nvPr/>
        </p:nvSpPr>
        <p:spPr>
          <a:xfrm>
            <a:off x="0" y="914400"/>
            <a:ext cx="2057400" cy="5105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Overview</a:t>
            </a:r>
            <a:endParaRPr kumimoji="0" lang="en-GB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Practical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99DA55-B99A-B25C-2E98-7EF87C44566F}"/>
                  </a:ext>
                </a:extLst>
              </p:cNvPr>
              <p:cNvSpPr txBox="1"/>
              <p:nvPr/>
            </p:nvSpPr>
            <p:spPr>
              <a:xfrm>
                <a:off x="2416627" y="914400"/>
                <a:ext cx="9067802" cy="5083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000" dirty="0"/>
                  <a:t>The node is responsible for calculating the required steering command.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000" dirty="0"/>
                  <a:t>The controller used is the Stanley controller which calculates the steering angle (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GB" sz="2000" dirty="0"/>
                  <a:t>) using the following rule: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fName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den>
                          </m:f>
                          <m:r>
                            <a:rPr lang="en-GB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GB" sz="2000" dirty="0"/>
              </a:p>
              <a:p>
                <a:pPr>
                  <a:lnSpc>
                    <a:spcPct val="150000"/>
                  </a:lnSpc>
                </a:pPr>
                <a:r>
                  <a:rPr lang="en-GB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GB" sz="2000" dirty="0"/>
                  <a:t> is the heading error,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dirty="0"/>
                  <a:t> is the Stanley gain,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GB" sz="2000" dirty="0"/>
                  <a:t> is the cross-track error,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sz="2000" dirty="0"/>
                  <a:t> is the vehicle’s velocity and </a:t>
                </a:r>
                <a14:m>
                  <m:oMath xmlns:m="http://schemas.openxmlformats.org/officeDocument/2006/math">
                    <m:r>
                      <a:rPr lang="en-GB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GB" sz="2000" dirty="0"/>
                  <a:t> is a small value (0.05-0.1) to prevent dividing by zero.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000" dirty="0"/>
                  <a:t>The heading error is the difference between the desired heading angle (zero) and the current heading angle.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000" dirty="0"/>
                  <a:t>The cross-track error is defined as the difference between the desired Y-value ,which is given by the obstacle avoidance node, and the current Y-value.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99DA55-B99A-B25C-2E98-7EF87C445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627" y="914400"/>
                <a:ext cx="9067802" cy="5083892"/>
              </a:xfrm>
              <a:prstGeom prst="rect">
                <a:avLst/>
              </a:prstGeom>
              <a:blipFill>
                <a:blip r:embed="rId2"/>
                <a:stretch>
                  <a:fillRect l="-672" r="-1008" b="-11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55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BD99E-0D25-5504-B89D-BF4F7AF54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D497-EAB1-1FC4-B99A-414CD563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36524"/>
            <a:ext cx="9347200" cy="313506"/>
          </a:xfrm>
        </p:spPr>
        <p:txBody>
          <a:bodyPr/>
          <a:lstStyle/>
          <a:p>
            <a:r>
              <a:rPr lang="en-GB" i="1" dirty="0"/>
              <a:t>Pi-ESP Serial Interface Node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3A2FD6-F205-E99E-9770-4E4788E4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88AA48-FE50-4E19-88CA-A0E4CBFE9E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9806C-9E5D-6CD8-6040-A8D248EC0C38}"/>
              </a:ext>
            </a:extLst>
          </p:cNvPr>
          <p:cNvSpPr/>
          <p:nvPr/>
        </p:nvSpPr>
        <p:spPr>
          <a:xfrm>
            <a:off x="0" y="914400"/>
            <a:ext cx="2057400" cy="5105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Overview</a:t>
            </a:r>
            <a:endParaRPr kumimoji="0" lang="en-GB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Practical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2D038-CFD3-7A26-F20B-D94004B49FF7}"/>
              </a:ext>
            </a:extLst>
          </p:cNvPr>
          <p:cNvSpPr txBox="1"/>
          <p:nvPr/>
        </p:nvSpPr>
        <p:spPr>
          <a:xfrm>
            <a:off x="2414729" y="914400"/>
            <a:ext cx="9347201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node takes the sensor readings from the ESP32 and sends them to the localization node.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node also takes the PWM and steering angle from the Stanley node and sends them to the ESP32.</a:t>
            </a:r>
          </a:p>
        </p:txBody>
      </p:sp>
    </p:spTree>
    <p:extLst>
      <p:ext uri="{BB962C8B-B14F-4D97-AF65-F5344CB8AC3E}">
        <p14:creationId xmlns:p14="http://schemas.microsoft.com/office/powerpoint/2010/main" val="79041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E0A76-CDF0-B464-D4EC-CD2C317D4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0BCF3-F444-1BF0-1002-996CAD0D2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136524"/>
            <a:ext cx="9347200" cy="313506"/>
          </a:xfrm>
        </p:spPr>
        <p:txBody>
          <a:bodyPr/>
          <a:lstStyle/>
          <a:p>
            <a:r>
              <a:rPr lang="en-GB" i="1" dirty="0"/>
              <a:t>Practical Example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D2BD06-C302-02F2-B8FB-9D305D10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88AA48-FE50-4E19-88CA-A0E4CBFE9EC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25A6F2-22D2-998B-4B7D-79E8B96B7003}"/>
              </a:ext>
            </a:extLst>
          </p:cNvPr>
          <p:cNvSpPr/>
          <p:nvPr/>
        </p:nvSpPr>
        <p:spPr>
          <a:xfrm>
            <a:off x="0" y="914400"/>
            <a:ext cx="2057400" cy="5105400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/>
                </a:solidFill>
                <a:latin typeface="Calibri"/>
              </a:rPr>
              <a:t>Overview</a:t>
            </a:r>
            <a:endParaRPr kumimoji="0" lang="en-GB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Nodes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Practical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Obstacle Avoidance Video 1">
            <a:hlinkClick r:id="" action="ppaction://media"/>
            <a:extLst>
              <a:ext uri="{FF2B5EF4-FFF2-40B4-BE49-F238E27FC236}">
                <a16:creationId xmlns:a16="http://schemas.microsoft.com/office/drawing/2014/main" id="{160BF5A9-7EE2-4EA0-5D9A-2609D895F7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90800" y="848405"/>
            <a:ext cx="8991600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5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675</Words>
  <Application>Microsoft Office PowerPoint</Application>
  <PresentationFormat>Widescreen</PresentationFormat>
  <Paragraphs>98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Times New Roman</vt:lpstr>
      <vt:lpstr>1_Office Theme</vt:lpstr>
      <vt:lpstr>Overview</vt:lpstr>
      <vt:lpstr>Overview</vt:lpstr>
      <vt:lpstr>Camera Node</vt:lpstr>
      <vt:lpstr>Camera Node</vt:lpstr>
      <vt:lpstr>Obstacle Avoidance Node</vt:lpstr>
      <vt:lpstr>Localization Node</vt:lpstr>
      <vt:lpstr>Stanley Node</vt:lpstr>
      <vt:lpstr>Pi-ESP Serial Interface Node</vt:lpstr>
      <vt:lpstr>Practical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Hany</dc:creator>
  <cp:lastModifiedBy>Mohamed Hany</cp:lastModifiedBy>
  <cp:revision>1</cp:revision>
  <dcterms:created xsi:type="dcterms:W3CDTF">2026-05-22T08:21:53Z</dcterms:created>
  <dcterms:modified xsi:type="dcterms:W3CDTF">2026-05-22T12:28:40Z</dcterms:modified>
</cp:coreProperties>
</file>